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FFFFFF"/>
                </a:solidFill>
              </a:rPr>
              <a:t>Casos reales por estado (19 casos, 10 municipios)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14B8A8"/>
            </a:solidFill>
          </c:spPr>
          <c:cat>
            <c:strRef>
              <c:f>Sheet1!$A$2:$A$5</c:f>
              <c:strCache>
                <c:ptCount val="4"/>
                <c:pt idx="0">
                  <c:v>Pendiente</c:v>
                </c:pt>
                <c:pt idx="1">
                  <c:v>En verificación</c:v>
                </c:pt>
                <c:pt idx="2">
                  <c:v>Verificado</c:v>
                </c:pt>
                <c:pt idx="3">
                  <c:v>Atendido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3C5C"/>
            </a:solidFill>
          </a:ln>
        </c:spPr>
        <c:txPr>
          <a:bodyPr/>
          <a:lstStyle/>
          <a:p>
            <a:pPr>
              <a:defRPr sz="1100">
                <a:solidFill>
                  <a:srgbClr val="9FB0A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Metas del piloto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Sheet1!$A$2:$A$5</c:f>
              <c:strCache>
                <c:ptCount val="4"/>
                <c:pt idx="0">
                  <c:v>Unidades
productivas</c:v>
                </c:pt>
                <c:pt idx="1">
                  <c:v>% Casos
verificados</c:v>
                </c:pt>
                <c:pt idx="2">
                  <c:v>Negocios
reactivados</c:v>
                </c:pt>
                <c:pt idx="3">
                  <c:v>Oportunidades
laborales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80</c:v>
                </c:pt>
                <c:pt idx="2">
                  <c:v>100</c:v>
                </c:pt>
                <c:pt idx="3">
                  <c:v>150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3C5C"/>
            </a:solidFill>
          </a:ln>
        </c:spPr>
        <c:txPr>
          <a:bodyPr/>
          <a:lstStyle/>
          <a:p>
            <a:pPr>
              <a:defRPr sz="1050">
                <a:solidFill>
                  <a:srgbClr val="9FB0A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smo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8580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804672"/>
            <a:ext cx="766167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HACKATÓN · PITCH DE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24912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FFFFFF"/>
                </a:solidFill>
                <a:latin typeface="Calibri"/>
              </a:rPr>
              <a:t>ReActiva </a:t>
            </a:r>
            <a:r>
              <a:rPr sz="5800" b="1">
                <a:solidFill>
                  <a:srgbClr val="14B8A8"/>
                </a:solidFill>
                <a:latin typeface="Calibri"/>
              </a:rPr>
              <a:t>Territorio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94760"/>
            <a:ext cx="1280160" cy="38100"/>
          </a:xfrm>
          <a:prstGeom prst="rect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 sismo real dejó miles de familias sin nada. Esta es la plataforma que convierte sus reportes en recuperación verificable.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FB0AE"/>
                </a:solidFill>
                <a:latin typeface="Calibri"/>
              </a:rPr>
              <a:t>Foto real — Chocó, Colombia,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smo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PROBLEMA · 0:00–0:30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El sismo no falló por falta de ayuda.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9FB0AE"/>
                </a:solidFill>
                <a:latin typeface="Calibri"/>
              </a:rPr>
              <a:t>Magnitud 7.4, epicentro en Chocó. Daños en Quibdó, Cali, Pereira, Manizales y Armenia — sentido incluso en Ecuador y Panamá.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0424160" cy="2743200"/>
          </a:xfrm>
          <a:prstGeom prst="roundRect">
            <a:avLst>
              <a:gd name="adj" fmla="val 8000"/>
            </a:avLst>
          </a:prstGeom>
          <a:solidFill>
            <a:srgbClr val="0C1828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4B8A8"/>
                </a:solidFill>
                <a:latin typeface="Calibri"/>
              </a:rPr>
              <a:t>→  </a:t>
            </a:r>
            <a:r>
              <a:rPr sz="1700" b="1">
                <a:solidFill>
                  <a:srgbClr val="FFFFFF"/>
                </a:solidFill>
                <a:latin typeface="Calibri"/>
              </a:rPr>
              <a:t>Reportes perdidos</a:t>
            </a:r>
            <a:r>
              <a:rPr sz="1500">
                <a:solidFill>
                  <a:srgbClr val="9FB0AE"/>
                </a:solidFill>
                <a:latin typeface="Calibri"/>
              </a:rPr>
              <a:t>  en WhatsApp y hojas sueltas, sin verificar.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4B8A8"/>
                </a:solidFill>
                <a:latin typeface="Calibri"/>
              </a:rPr>
              <a:t>→  </a:t>
            </a:r>
            <a:r>
              <a:rPr sz="1700" b="1">
                <a:solidFill>
                  <a:srgbClr val="FFFFFF"/>
                </a:solidFill>
                <a:latin typeface="Calibri"/>
              </a:rPr>
              <a:t>Ayuda mal dirigida</a:t>
            </a:r>
            <a:r>
              <a:rPr sz="1500">
                <a:solidFill>
                  <a:srgbClr val="9FB0AE"/>
                </a:solidFill>
                <a:latin typeface="Calibri"/>
              </a:rPr>
              <a:t>  que no llega a quien más la necesita primero.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4B8A8"/>
                </a:solidFill>
                <a:latin typeface="Calibri"/>
              </a:rPr>
              <a:t>→  </a:t>
            </a:r>
            <a:r>
              <a:rPr sz="1700" b="1">
                <a:solidFill>
                  <a:srgbClr val="FFFFFF"/>
                </a:solidFill>
                <a:latin typeface="Calibri"/>
              </a:rPr>
              <a:t>Nadie mide el resultado</a:t>
            </a:r>
            <a:r>
              <a:rPr sz="1500">
                <a:solidFill>
                  <a:srgbClr val="9FB0AE"/>
                </a:solidFill>
                <a:latin typeface="Calibri"/>
              </a:rPr>
              <a:t>  — no hay forma de confirmar si un caso quedó atendido.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SOLUCIÓN · 0:30–1:00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Un flujo, de principio a fin.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162A47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3090672"/>
            <a:ext cx="457200" cy="45720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REPORTAR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B0AE"/>
                </a:solidFill>
                <a:latin typeface="Calibri"/>
              </a:rPr>
              <a:t>Sin conexión a internet</a:t>
            </a:r>
          </a:p>
        </p:txBody>
      </p:sp>
      <p:sp>
        <p:nvSpPr>
          <p:cNvPr id="15" name="Chevron 14"/>
          <p:cNvSpPr/>
          <p:nvPr/>
        </p:nvSpPr>
        <p:spPr>
          <a:xfrm>
            <a:off x="2898648" y="3794760"/>
            <a:ext cx="283464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92608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1B3556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64992" y="3090672"/>
            <a:ext cx="457200" cy="45720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VERIFICAR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B0AE"/>
                </a:solidFill>
                <a:latin typeface="Calibri"/>
              </a:rPr>
              <a:t>Prioridad objetiva</a:t>
            </a:r>
          </a:p>
        </p:txBody>
      </p:sp>
      <p:sp>
        <p:nvSpPr>
          <p:cNvPr id="20" name="Chevron 19"/>
          <p:cNvSpPr/>
          <p:nvPr/>
        </p:nvSpPr>
        <p:spPr>
          <a:xfrm>
            <a:off x="5550408" y="3794760"/>
            <a:ext cx="283464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0" y="292608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162A47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16752" y="3090672"/>
            <a:ext cx="457200" cy="45720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CONECTAR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B0AE"/>
                </a:solidFill>
                <a:latin typeface="Calibri"/>
              </a:rPr>
              <a:t>Reglas explicables</a:t>
            </a:r>
          </a:p>
        </p:txBody>
      </p:sp>
      <p:sp>
        <p:nvSpPr>
          <p:cNvPr id="25" name="Chevron 24"/>
          <p:cNvSpPr/>
          <p:nvPr/>
        </p:nvSpPr>
        <p:spPr>
          <a:xfrm>
            <a:off x="8202168" y="3794760"/>
            <a:ext cx="283464" cy="365760"/>
          </a:xfrm>
          <a:prstGeom prst="chevron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03920" y="292608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1B3556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68512" y="3090672"/>
            <a:ext cx="457200" cy="45720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CONFIRMAR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B0AE"/>
                </a:solidFill>
                <a:latin typeface="Calibri"/>
              </a:rPr>
              <a:t>Evidencia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CÓMO SE VE, EN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Reportar, verificar, conectar y alertar — en vivo.</a:t>
            </a:r>
          </a:p>
        </p:txBody>
      </p:sp>
      <p:pic>
        <p:nvPicPr>
          <p:cNvPr id="11" name="process_montag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89607" y="2606040"/>
            <a:ext cx="8412480" cy="3794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FB0AE"/>
                </a:solidFill>
                <a:latin typeface="Calibri"/>
              </a:rPr>
              <a:t>Haz clic para reproducir  ·  clip real de la plataforma, sin edición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TECNOLOGÍAS DE GOOGLE · 1:00–1:30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Construido sobre el ecosistema de Google, de verdad, en producción.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71216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340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Firebase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81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Cuentas reales, recuperación de contraseña, 2FA con TOTP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2871216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7340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Cloud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081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Base de datos en tiempo real, con caché offline persistente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41648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044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Firebase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Evidencia fotográfica de casos y entregas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4041648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044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Firebase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Despliegue real en producción, hoy visitable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212079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74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Google Maps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42239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Mapa de casos con ajuste automático de vista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5212079"/>
            <a:ext cx="118872" cy="118872"/>
          </a:xfrm>
          <a:prstGeom prst="ellipse">
            <a:avLst/>
          </a:prstGeom>
          <a:solidFill>
            <a:srgbClr val="14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5074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Gemini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42239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AE"/>
                </a:solidFill>
                <a:latin typeface="Calibri"/>
              </a:rPr>
              <a:t>Narración de este video generada con texto a voz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DEMO EN VIVO · 1:30–2:00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 es una maqueta. Es un proyecto real, hoy.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846320" cy="777240"/>
          </a:xfrm>
          <a:prstGeom prst="roundRect">
            <a:avLst>
              <a:gd name="adj" fmla="val 8000"/>
            </a:avLst>
          </a:prstGeom>
          <a:solidFill>
            <a:srgbClr val="162A47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reactivaterritorio.web.app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FB0AE"/>
                </a:solidFill>
                <a:latin typeface="Calibri"/>
              </a:rPr>
              <a:t>Cuentas demo:
lider@demo.reactiva · org@demo.reactiva · admin@demo.reactiva
contraseña: demo1234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60720" y="2697480"/>
          <a:ext cx="56692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GITHUB · 2:00–2:30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Código público, documentado de punta a punta.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8778240" cy="868680"/>
          </a:xfrm>
          <a:prstGeom prst="roundRect">
            <a:avLst>
              <a:gd name="adj" fmla="val 8000"/>
            </a:avLst>
          </a:prstGeom>
          <a:solidFill>
            <a:srgbClr val="162A47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onsolas"/>
              </a:rPr>
              <a:t>github.com/lnieto044/ReActiva_Territorio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React · 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FB0AE"/>
                </a:solidFill>
                <a:latin typeface="Calibri"/>
              </a:rPr>
              <a:t>Vite + Tailwind, TypeScript estricto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9776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6177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FB0AE"/>
                </a:solidFill>
                <a:latin typeface="Calibri"/>
              </a:rPr>
              <a:t>pruebas unitarias en lógica de dominio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9776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177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FB0AE"/>
                </a:solidFill>
                <a:latin typeface="Calibri"/>
              </a:rPr>
              <a:t>reglas de seguridad reales en Firestore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612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8"/>
                </a:solidFill>
                <a:latin typeface="Calibri"/>
              </a:rPr>
              <a:t>CIERRE · 2:30–3:00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Coordinar la recuperación, caso por caso.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FB0AE"/>
                </a:solidFill>
                <a:latin typeface="Calibri"/>
              </a:rPr>
              <a:t>Lista para un piloto real que puede verificar cientos de casos y reactivar decenas de negocios en semanas, no en meses.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0" y="1691640"/>
          <a:ext cx="557784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120640"/>
            <a:ext cx="9966960" cy="1234440"/>
          </a:xfrm>
          <a:prstGeom prst="roundRect">
            <a:avLst>
              <a:gd name="adj" fmla="val 8000"/>
            </a:avLst>
          </a:prstGeom>
          <a:solidFill>
            <a:srgbClr val="162A47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Luis Guillermo Nieto Patiño</a:t>
            </a:r>
          </a:p>
          <a:p>
            <a:pPr algn="ctr"/>
            <a:r>
              <a:rPr sz="1450">
                <a:solidFill>
                  <a:srgbClr val="9FB0AE"/>
                </a:solidFill>
                <a:latin typeface="Calibri"/>
              </a:rPr>
              <a:t>guillermonieto.2003@gmail.com   ·   WhatsApp +57 313 389 8628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4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0624"/>
            <a:ext cx="383084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" y="384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FB0AE"/>
                </a:solidFill>
                <a:latin typeface="Calibri"/>
              </a:rPr>
              <a:t>REACTIVA TERRITORIO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Escanéala. Ya existe.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FB0AE"/>
                </a:solidFill>
                <a:latin typeface="Calibri"/>
              </a:rPr>
              <a:t>Entra ahora mismo a la plataforma en vivo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288036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7" y="3108960"/>
            <a:ext cx="283464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8"/>
                </a:solidFill>
                <a:latin typeface="Consolas"/>
              </a:rPr>
              <a:t>reactivaterritorio.web.app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FB0AE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