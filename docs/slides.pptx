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5A623"/>
                </a:solidFill>
                <a:latin typeface="Calibri"/>
              </a:rPr>
              <a:t>HACKATÓN · PITCH DE PROYECTO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468880"/>
            <a:ext cx="8229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6000" b="1">
                <a:solidFill>
                  <a:srgbClr val="FFFFFF"/>
                </a:solidFill>
                <a:latin typeface="Calibri"/>
              </a:rPr>
              <a:t>ReActiva</a:t>
            </a:r>
          </a:p>
          <a:p>
            <a:r>
              <a:rPr sz="6000" b="1">
                <a:solidFill>
                  <a:srgbClr val="14B8A8"/>
                </a:solidFill>
                <a:latin typeface="Calibri"/>
              </a:rPr>
              <a:t>Territorio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48056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9FB0AE"/>
                </a:solidFill>
                <a:latin typeface="Calibri"/>
              </a:rPr>
              <a:t>Convierte los reportes de una comunidad tras un sismo en recuperación verificable — de principio a fin.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457200"/>
            <a:ext cx="365760" cy="365760"/>
          </a:xfrm>
          <a:prstGeom prst="ellipse">
            <a:avLst/>
          </a:prstGeom>
          <a:solidFill>
            <a:srgbClr val="0E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47548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4B8A8"/>
                </a:solidFill>
                <a:latin typeface="Calibri"/>
              </a:rPr>
              <a:t>PROBLEMA · 0:00–0:30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El sismo del 10 de agosto de 2026 no falló por falta de ayuda.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9FB0AE"/>
                </a:solidFill>
                <a:latin typeface="Calibri"/>
              </a:rPr>
              <a:t>Falló por falta de coordinación. Magnitud 7.4, epicentro en Chocó, con daños en Quibdó, Cali, Pereira, Manizales y Armenia.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83464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→  Reportes perdidos</a:t>
            </a:r>
            <a:r>
              <a:rPr sz="1400">
                <a:solidFill>
                  <a:srgbClr val="9FB0AE"/>
                </a:solidFill>
                <a:latin typeface="Calibri"/>
              </a:rPr>
              <a:t>  en WhatsApp y hojas sueltas, sin verificar.</a:t>
            </a:r>
          </a:p>
          <a:p>
            <a:pPr>
              <a:spcAft>
                <a:spcPts val="1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→  Ayuda mal dirigida</a:t>
            </a:r>
            <a:r>
              <a:rPr sz="1400">
                <a:solidFill>
                  <a:srgbClr val="9FB0AE"/>
                </a:solidFill>
                <a:latin typeface="Calibri"/>
              </a:rPr>
              <a:t>  que no llega a quien más la necesita primero.</a:t>
            </a:r>
          </a:p>
          <a:p>
            <a:pPr>
              <a:spcAft>
                <a:spcPts val="1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→  Nadie mide el resultado</a:t>
            </a:r>
            <a:r>
              <a:rPr sz="1400">
                <a:solidFill>
                  <a:srgbClr val="9FB0AE"/>
                </a:solidFill>
                <a:latin typeface="Calibri"/>
              </a:rPr>
              <a:t>  — no hay forma de confirmar si un caso quedó atendido.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457200"/>
            <a:ext cx="365760" cy="365760"/>
          </a:xfrm>
          <a:prstGeom prst="ellipse">
            <a:avLst/>
          </a:prstGeom>
          <a:solidFill>
            <a:srgbClr val="0E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47548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4B8A8"/>
                </a:solidFill>
                <a:latin typeface="Calibri"/>
              </a:rPr>
              <a:t>SOLUCIÓN · 0:30–1:00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Reporte, verificación, coincidencia y seguimiento — en un solo flujo.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8600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→  Reportar</a:t>
            </a:r>
            <a:r>
              <a:rPr sz="1400">
                <a:solidFill>
                  <a:srgbClr val="9FB0AE"/>
                </a:solidFill>
                <a:latin typeface="Calibri"/>
              </a:rPr>
              <a:t>  — cualquier líder comunitario reporta, incluso sin conexión a internet.</a:t>
            </a:r>
          </a:p>
          <a:p>
            <a:pPr>
              <a:spcAft>
                <a:spcPts val="1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→  Verificar</a:t>
            </a:r>
            <a:r>
              <a:rPr sz="1400">
                <a:solidFill>
                  <a:srgbClr val="9FB0AE"/>
                </a:solidFill>
                <a:latin typeface="Calibri"/>
              </a:rPr>
              <a:t>  — se calcula una prioridad objetiva, con criterios transparentes.</a:t>
            </a:r>
          </a:p>
          <a:p>
            <a:pPr>
              <a:spcAft>
                <a:spcPts val="1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→  Conectar</a:t>
            </a:r>
            <a:r>
              <a:rPr sz="1400">
                <a:solidFill>
                  <a:srgbClr val="9FB0AE"/>
                </a:solidFill>
                <a:latin typeface="Calibri"/>
              </a:rPr>
              <a:t>  — reglas simples y explicables sugieren ofertas de ayuda compatibles.</a:t>
            </a:r>
          </a:p>
          <a:p>
            <a:pPr>
              <a:spcAft>
                <a:spcPts val="1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→  Confirmar</a:t>
            </a:r>
            <a:r>
              <a:rPr sz="1400">
                <a:solidFill>
                  <a:srgbClr val="9FB0AE"/>
                </a:solidFill>
                <a:latin typeface="Calibri"/>
              </a:rPr>
              <a:t>  — seguimiento con evidencia hasta que la comunidad cierra el caso.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457200"/>
            <a:ext cx="365760" cy="365760"/>
          </a:xfrm>
          <a:prstGeom prst="ellipse">
            <a:avLst/>
          </a:prstGeom>
          <a:solidFill>
            <a:srgbClr val="0E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47548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4B8A8"/>
                </a:solidFill>
                <a:latin typeface="Calibri"/>
              </a:rPr>
              <a:t>TECNOLOGÍAS DE GOOGLE · 1:00–1:30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Construido sobre el ecosistema de Google, de verdad, en producción.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2359152"/>
            <a:ext cx="128016" cy="128016"/>
          </a:xfrm>
          <a:prstGeom prst="ellipse">
            <a:avLst/>
          </a:prstGeom>
          <a:solidFill>
            <a:srgbClr val="14B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212848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Firebase Authentication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56032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9FB0AE"/>
                </a:solidFill>
                <a:latin typeface="Calibri"/>
              </a:rPr>
              <a:t>Cuentas reales, recuperación de contraseña, 2FA con TOTP</a:t>
            </a:r>
          </a:p>
        </p:txBody>
      </p:sp>
      <p:sp>
        <p:nvSpPr>
          <p:cNvPr id="9" name="Oval 8"/>
          <p:cNvSpPr/>
          <p:nvPr/>
        </p:nvSpPr>
        <p:spPr>
          <a:xfrm>
            <a:off x="6035040" y="2359152"/>
            <a:ext cx="128016" cy="128016"/>
          </a:xfrm>
          <a:prstGeom prst="ellipse">
            <a:avLst/>
          </a:prstGeom>
          <a:solidFill>
            <a:srgbClr val="14B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2212848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Cloud Firestore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256032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9FB0AE"/>
                </a:solidFill>
                <a:latin typeface="Calibri"/>
              </a:rPr>
              <a:t>Base de datos en tiempo real, con caché offline persistente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3547872"/>
            <a:ext cx="128016" cy="128016"/>
          </a:xfrm>
          <a:prstGeom prst="ellipse">
            <a:avLst/>
          </a:prstGeom>
          <a:solidFill>
            <a:srgbClr val="14B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401568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Firebase Storage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74904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9FB0AE"/>
                </a:solidFill>
                <a:latin typeface="Calibri"/>
              </a:rPr>
              <a:t>Evidencia fotográfica de casos y entregas</a:t>
            </a:r>
          </a:p>
        </p:txBody>
      </p:sp>
      <p:sp>
        <p:nvSpPr>
          <p:cNvPr id="15" name="Oval 14"/>
          <p:cNvSpPr/>
          <p:nvPr/>
        </p:nvSpPr>
        <p:spPr>
          <a:xfrm>
            <a:off x="6035040" y="3547872"/>
            <a:ext cx="128016" cy="128016"/>
          </a:xfrm>
          <a:prstGeom prst="ellipse">
            <a:avLst/>
          </a:prstGeom>
          <a:solidFill>
            <a:srgbClr val="14B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3401568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Firebase Hosting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374904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9FB0AE"/>
                </a:solidFill>
                <a:latin typeface="Calibri"/>
              </a:rPr>
              <a:t>Despliegue real en producción, hoy visitable</a:t>
            </a:r>
          </a:p>
        </p:txBody>
      </p:sp>
      <p:sp>
        <p:nvSpPr>
          <p:cNvPr id="18" name="Oval 17"/>
          <p:cNvSpPr/>
          <p:nvPr/>
        </p:nvSpPr>
        <p:spPr>
          <a:xfrm>
            <a:off x="548640" y="4736592"/>
            <a:ext cx="128016" cy="128016"/>
          </a:xfrm>
          <a:prstGeom prst="ellipse">
            <a:avLst/>
          </a:prstGeom>
          <a:solidFill>
            <a:srgbClr val="14B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590288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Google Maps Platform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493776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9FB0AE"/>
                </a:solidFill>
                <a:latin typeface="Calibri"/>
              </a:rPr>
              <a:t>Mapa de casos con ajuste automático de vista</a:t>
            </a:r>
          </a:p>
        </p:txBody>
      </p:sp>
      <p:sp>
        <p:nvSpPr>
          <p:cNvPr id="21" name="Oval 20"/>
          <p:cNvSpPr/>
          <p:nvPr/>
        </p:nvSpPr>
        <p:spPr>
          <a:xfrm>
            <a:off x="6035040" y="4736592"/>
            <a:ext cx="128016" cy="128016"/>
          </a:xfrm>
          <a:prstGeom prst="ellipse">
            <a:avLst/>
          </a:prstGeom>
          <a:solidFill>
            <a:srgbClr val="14B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5080" y="4590288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Gemini API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493776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9FB0AE"/>
                </a:solidFill>
                <a:latin typeface="Calibri"/>
              </a:rPr>
              <a:t>Narración de video generada con texto a voz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457200"/>
            <a:ext cx="365760" cy="365760"/>
          </a:xfrm>
          <a:prstGeom prst="ellipse">
            <a:avLst/>
          </a:prstGeom>
          <a:solidFill>
            <a:srgbClr val="0E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47548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4B8A8"/>
                </a:solidFill>
                <a:latin typeface="Calibri"/>
              </a:rPr>
              <a:t>DEMO EN VIVO · 1:30–2:00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No es una maqueta. Es un proyecto real, hoy.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2024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9FB0AE"/>
                </a:solidFill>
                <a:latin typeface="Calibri"/>
              </a:rPr>
              <a:t>19 casos reales, en 10 municipios distintos, corriendo en un proyecto Firebase real — no en una simulación local.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834640"/>
            <a:ext cx="6583680" cy="822960"/>
          </a:xfrm>
          <a:prstGeom prst="roundRect">
            <a:avLst/>
          </a:prstGeom>
          <a:solidFill>
            <a:srgbClr val="162A47"/>
          </a:solidFill>
          <a:ln w="12700">
            <a:solidFill>
              <a:srgbClr val="273C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FFFFFF"/>
                </a:solidFill>
                <a:latin typeface="Consolas"/>
              </a:rPr>
              <a:t>reactivaterritorio.web.app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9319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FB0AE"/>
                </a:solidFill>
                <a:latin typeface="Calibri"/>
              </a:rPr>
              <a:t>Cuentas demo: lider@demo.reactiva · org@demo.reactiva · admin@demo.reactiva  —  contraseña: demo1234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457200"/>
            <a:ext cx="365760" cy="365760"/>
          </a:xfrm>
          <a:prstGeom prst="ellipse">
            <a:avLst/>
          </a:prstGeom>
          <a:solidFill>
            <a:srgbClr val="0E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47548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4B8A8"/>
                </a:solidFill>
                <a:latin typeface="Calibri"/>
              </a:rPr>
              <a:t>GITHUB · 2:00–2:30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Código público, documentado de punta a punta.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03120"/>
            <a:ext cx="8686800" cy="822960"/>
          </a:xfrm>
          <a:prstGeom prst="roundRect">
            <a:avLst/>
          </a:prstGeom>
          <a:solidFill>
            <a:srgbClr val="162A47"/>
          </a:solidFill>
          <a:ln w="12700">
            <a:solidFill>
              <a:srgbClr val="273C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Consolas"/>
              </a:rPr>
              <a:t>github.com/lnieto044/ReActiva_Territorio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91840"/>
            <a:ext cx="3383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React · 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977639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FB0AE"/>
                </a:solidFill>
                <a:latin typeface="Calibri"/>
              </a:rPr>
              <a:t>Vite + Tailwind, TypeScript estricto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0" y="3291840"/>
            <a:ext cx="3383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31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0" y="3977639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FB0AE"/>
                </a:solidFill>
                <a:latin typeface="Calibri"/>
              </a:rPr>
              <a:t>pruebas unitarias en lógica de dominio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0" y="3291840"/>
            <a:ext cx="3383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100%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0" y="3977639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FB0AE"/>
                </a:solidFill>
                <a:latin typeface="Calibri"/>
              </a:rPr>
              <a:t>reglas de seguridad reales en Firestore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457200"/>
            <a:ext cx="365760" cy="365760"/>
          </a:xfrm>
          <a:prstGeom prst="ellipse">
            <a:avLst/>
          </a:prstGeom>
          <a:solidFill>
            <a:srgbClr val="0E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47548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4B8A8"/>
                </a:solidFill>
                <a:latin typeface="Calibri"/>
              </a:rPr>
              <a:t>CIERRE · 2:30–3:00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Coordinar la recuperación, caso por caso.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2024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9FB0AE"/>
                </a:solidFill>
                <a:latin typeface="Calibri"/>
              </a:rPr>
              <a:t>Lista para un piloto real que puede verificar cientos de casos y reactivar decenas de negocios en semanas, no en meses.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01752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500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611880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FB0AE"/>
                </a:solidFill>
                <a:latin typeface="Calibri"/>
              </a:rPr>
              <a:t>Unidades productivas registradas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301752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80%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3611880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FB0AE"/>
                </a:solidFill>
                <a:latin typeface="Calibri"/>
              </a:rPr>
              <a:t>De los casos verificados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59" y="301752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100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59" y="3611880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FB0AE"/>
                </a:solidFill>
                <a:latin typeface="Calibri"/>
              </a:rPr>
              <a:t>Negocios reactivados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19" y="301752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150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3611880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FB0AE"/>
                </a:solidFill>
                <a:latin typeface="Calibri"/>
              </a:rPr>
              <a:t>Oportunidades laborales generadas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663440"/>
            <a:ext cx="9601200" cy="1005840"/>
          </a:xfrm>
          <a:prstGeom prst="roundRect">
            <a:avLst/>
          </a:prstGeom>
          <a:solidFill>
            <a:srgbClr val="162A47"/>
          </a:solidFill>
          <a:ln w="12700">
            <a:solidFill>
              <a:srgbClr val="273C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Luis Guillermo Nieto Patiño</a:t>
            </a:r>
          </a:p>
          <a:p>
            <a:pPr algn="ctr"/>
            <a:r>
              <a:rPr sz="1500">
                <a:solidFill>
                  <a:srgbClr val="9FB0AE"/>
                </a:solidFill>
                <a:latin typeface="Calibri"/>
              </a:rPr>
              <a:t>guillermonieto.2003@gmail.com   ·   WhatsApp +57 313 389 8628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