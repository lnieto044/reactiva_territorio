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-2743200"/>
            <a:ext cx="8229600" cy="8229600"/>
          </a:xfrm>
          <a:prstGeom prst="ellipse">
            <a:avLst/>
          </a:prstGeom>
          <a:solidFill>
            <a:srgbClr val="142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5486400" cy="5486400"/>
          </a:xfrm>
          <a:prstGeom prst="ellipse">
            <a:avLst/>
          </a:prstGeom>
          <a:solidFill>
            <a:srgbClr val="142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822960"/>
            <a:ext cx="1276945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148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Calibri"/>
              </a:rPr>
              <a:t>HACKATÓN · PITCH DE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42032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Calibri"/>
              </a:rPr>
              <a:t>ReActiva</a:t>
            </a:r>
          </a:p>
          <a:p>
            <a:r>
              <a:rPr sz="6000" b="1">
                <a:solidFill>
                  <a:srgbClr val="14B8A8"/>
                </a:solidFill>
                <a:latin typeface="Calibri"/>
              </a:rPr>
              <a:t>Territorio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9FB0AE"/>
                </a:solidFill>
                <a:latin typeface="Calibri"/>
              </a:rPr>
              <a:t>Convierte los reportes de una comunidad tras un sismo en recuperación verificable — de principio a fin.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343400"/>
            <a:ext cx="1280160" cy="38100"/>
          </a:xfrm>
          <a:prstGeom prst="rect">
            <a:avLst/>
          </a:prstGeom>
          <a:solidFill>
            <a:srgbClr val="14B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FB0AE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-2743200"/>
            <a:ext cx="8229600" cy="8229600"/>
          </a:xfrm>
          <a:prstGeom prst="ellipse">
            <a:avLst/>
          </a:prstGeom>
          <a:solidFill>
            <a:srgbClr val="142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5486400" cy="5486400"/>
          </a:xfrm>
          <a:prstGeom prst="ellipse">
            <a:avLst/>
          </a:prstGeom>
          <a:solidFill>
            <a:srgbClr val="142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36576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0624"/>
            <a:ext cx="383084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" y="384048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9FB0AE"/>
                </a:solidFill>
                <a:latin typeface="Calibri"/>
              </a:rPr>
              <a:t>REACTIVA TERRITORIO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143000"/>
            <a:ext cx="365760" cy="365760"/>
          </a:xfrm>
          <a:prstGeom prst="ellipse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1612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B8A8"/>
                </a:solidFill>
                <a:latin typeface="Calibri"/>
              </a:rPr>
              <a:t>PROBLEMA · 0:00–0:30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El sismo del 10 de agosto de 2026 no falló por falta de ayuda.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1460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FB0AE"/>
                </a:solidFill>
                <a:latin typeface="Calibri"/>
              </a:rPr>
              <a:t>Falló por falta de coordinación. Magnitud 7.4, epicentro en Chocó, con daños en Quibdó, Cali, Pereira, Manizales y Armenia.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290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14B8A8"/>
                </a:solidFill>
                <a:latin typeface="Calibri"/>
              </a:rPr>
              <a:t>→  </a:t>
            </a:r>
            <a:r>
              <a:rPr sz="1600" b="1">
                <a:solidFill>
                  <a:srgbClr val="FFFFFF"/>
                </a:solidFill>
                <a:latin typeface="Calibri"/>
              </a:rPr>
              <a:t>Reportes perdidos</a:t>
            </a:r>
            <a:r>
              <a:rPr sz="1400">
                <a:solidFill>
                  <a:srgbClr val="9FB0AE"/>
                </a:solidFill>
                <a:latin typeface="Calibri"/>
              </a:rPr>
              <a:t>  en WhatsApp y hojas sueltas, sin verificar.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14B8A8"/>
                </a:solidFill>
                <a:latin typeface="Calibri"/>
              </a:rPr>
              <a:t>→  </a:t>
            </a:r>
            <a:r>
              <a:rPr sz="1600" b="1">
                <a:solidFill>
                  <a:srgbClr val="FFFFFF"/>
                </a:solidFill>
                <a:latin typeface="Calibri"/>
              </a:rPr>
              <a:t>Ayuda mal dirigida</a:t>
            </a:r>
            <a:r>
              <a:rPr sz="1400">
                <a:solidFill>
                  <a:srgbClr val="9FB0AE"/>
                </a:solidFill>
                <a:latin typeface="Calibri"/>
              </a:rPr>
              <a:t>  que no llega a quien más la necesita primero.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14B8A8"/>
                </a:solidFill>
                <a:latin typeface="Calibri"/>
              </a:rPr>
              <a:t>→  </a:t>
            </a:r>
            <a:r>
              <a:rPr sz="1600" b="1">
                <a:solidFill>
                  <a:srgbClr val="FFFFFF"/>
                </a:solidFill>
                <a:latin typeface="Calibri"/>
              </a:rPr>
              <a:t>Nadie mide el resultado</a:t>
            </a:r>
            <a:r>
              <a:rPr sz="1400">
                <a:solidFill>
                  <a:srgbClr val="9FB0AE"/>
                </a:solidFill>
                <a:latin typeface="Calibri"/>
              </a:rPr>
              <a:t>  — no hay forma de confirmar si un caso quedó atendido.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FB0AE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-2743200"/>
            <a:ext cx="8229600" cy="8229600"/>
          </a:xfrm>
          <a:prstGeom prst="ellipse">
            <a:avLst/>
          </a:prstGeom>
          <a:solidFill>
            <a:srgbClr val="142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5486400" cy="5486400"/>
          </a:xfrm>
          <a:prstGeom prst="ellipse">
            <a:avLst/>
          </a:prstGeom>
          <a:solidFill>
            <a:srgbClr val="142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36576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0624"/>
            <a:ext cx="383084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" y="384048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9FB0AE"/>
                </a:solidFill>
                <a:latin typeface="Calibri"/>
              </a:rPr>
              <a:t>REACTIVA TERRITORIO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143000"/>
            <a:ext cx="365760" cy="365760"/>
          </a:xfrm>
          <a:prstGeom prst="ellipse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1612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B8A8"/>
                </a:solidFill>
                <a:latin typeface="Calibri"/>
              </a:rPr>
              <a:t>SOLUCIÓN · 0:30–1:00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Calibri"/>
              </a:rPr>
              <a:t>Reporte, verificación, coincidencia y seguimiento — en un solo flujo.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88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14B8A8"/>
                </a:solidFill>
                <a:latin typeface="Calibri"/>
              </a:rPr>
              <a:t>→  </a:t>
            </a:r>
            <a:r>
              <a:rPr sz="1700" b="1">
                <a:solidFill>
                  <a:srgbClr val="FFFFFF"/>
                </a:solidFill>
                <a:latin typeface="Calibri"/>
              </a:rPr>
              <a:t>Reportar</a:t>
            </a:r>
            <a:r>
              <a:rPr sz="1500">
                <a:solidFill>
                  <a:srgbClr val="9FB0AE"/>
                </a:solidFill>
                <a:latin typeface="Calibri"/>
              </a:rPr>
              <a:t>  — cualquier líder comunitario reporta, incluso sin conexión a internet.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14B8A8"/>
                </a:solidFill>
                <a:latin typeface="Calibri"/>
              </a:rPr>
              <a:t>→  </a:t>
            </a:r>
            <a:r>
              <a:rPr sz="1700" b="1">
                <a:solidFill>
                  <a:srgbClr val="FFFFFF"/>
                </a:solidFill>
                <a:latin typeface="Calibri"/>
              </a:rPr>
              <a:t>Verificar</a:t>
            </a:r>
            <a:r>
              <a:rPr sz="1500">
                <a:solidFill>
                  <a:srgbClr val="9FB0AE"/>
                </a:solidFill>
                <a:latin typeface="Calibri"/>
              </a:rPr>
              <a:t>  — se calcula una prioridad objetiva, con criterios transparentes.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14B8A8"/>
                </a:solidFill>
                <a:latin typeface="Calibri"/>
              </a:rPr>
              <a:t>→  </a:t>
            </a:r>
            <a:r>
              <a:rPr sz="1700" b="1">
                <a:solidFill>
                  <a:srgbClr val="FFFFFF"/>
                </a:solidFill>
                <a:latin typeface="Calibri"/>
              </a:rPr>
              <a:t>Conectar</a:t>
            </a:r>
            <a:r>
              <a:rPr sz="1500">
                <a:solidFill>
                  <a:srgbClr val="9FB0AE"/>
                </a:solidFill>
                <a:latin typeface="Calibri"/>
              </a:rPr>
              <a:t>  — reglas simples y explicables sugieren ofertas de ayuda compatibles.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14B8A8"/>
                </a:solidFill>
                <a:latin typeface="Calibri"/>
              </a:rPr>
              <a:t>→  </a:t>
            </a:r>
            <a:r>
              <a:rPr sz="1700" b="1">
                <a:solidFill>
                  <a:srgbClr val="FFFFFF"/>
                </a:solidFill>
                <a:latin typeface="Calibri"/>
              </a:rPr>
              <a:t>Confirmar</a:t>
            </a:r>
            <a:r>
              <a:rPr sz="1500">
                <a:solidFill>
                  <a:srgbClr val="9FB0AE"/>
                </a:solidFill>
                <a:latin typeface="Calibri"/>
              </a:rPr>
              <a:t>  — seguimiento con evidencia hasta que la comunidad cierra el caso.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FB0AE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-2743200"/>
            <a:ext cx="8229600" cy="8229600"/>
          </a:xfrm>
          <a:prstGeom prst="ellipse">
            <a:avLst/>
          </a:prstGeom>
          <a:solidFill>
            <a:srgbClr val="142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5486400" cy="5486400"/>
          </a:xfrm>
          <a:prstGeom prst="ellipse">
            <a:avLst/>
          </a:prstGeom>
          <a:solidFill>
            <a:srgbClr val="142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36576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0624"/>
            <a:ext cx="383084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" y="384048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9FB0AE"/>
                </a:solidFill>
                <a:latin typeface="Calibri"/>
              </a:rPr>
              <a:t>REACTIVA TERRITORIO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143000"/>
            <a:ext cx="365760" cy="365760"/>
          </a:xfrm>
          <a:prstGeom prst="ellipse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1612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B8A8"/>
                </a:solidFill>
                <a:latin typeface="Calibri"/>
              </a:rPr>
              <a:t>TECNOLOGÍAS DE GOOGLE · 1:00–1:30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Construido sobre el ecosistema de Google, de verdad, en producción.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962656"/>
            <a:ext cx="118872" cy="118872"/>
          </a:xfrm>
          <a:prstGeom prst="ellipse">
            <a:avLst/>
          </a:prstGeom>
          <a:solidFill>
            <a:srgbClr val="14B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825496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Firebase Authentication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17296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B0AE"/>
                </a:solidFill>
                <a:latin typeface="Calibri"/>
              </a:rPr>
              <a:t>Cuentas reales, recuperación de contraseña, 2FA con TOTP</a:t>
            </a:r>
          </a:p>
        </p:txBody>
      </p:sp>
      <p:sp>
        <p:nvSpPr>
          <p:cNvPr id="14" name="Oval 13"/>
          <p:cNvSpPr/>
          <p:nvPr/>
        </p:nvSpPr>
        <p:spPr>
          <a:xfrm>
            <a:off x="6035040" y="2962656"/>
            <a:ext cx="118872" cy="118872"/>
          </a:xfrm>
          <a:prstGeom prst="ellipse">
            <a:avLst/>
          </a:prstGeom>
          <a:solidFill>
            <a:srgbClr val="14B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2825496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Cloud Firestore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317296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B0AE"/>
                </a:solidFill>
                <a:latin typeface="Calibri"/>
              </a:rPr>
              <a:t>Base de datos en tiempo real, con caché offline persistente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133087"/>
            <a:ext cx="118872" cy="118872"/>
          </a:xfrm>
          <a:prstGeom prst="ellipse">
            <a:avLst/>
          </a:prstGeom>
          <a:solidFill>
            <a:srgbClr val="14B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3995927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Firebase 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343399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B0AE"/>
                </a:solidFill>
                <a:latin typeface="Calibri"/>
              </a:rPr>
              <a:t>Evidencia fotográfica de casos y entregas</a:t>
            </a:r>
          </a:p>
        </p:txBody>
      </p:sp>
      <p:sp>
        <p:nvSpPr>
          <p:cNvPr id="20" name="Oval 19"/>
          <p:cNvSpPr/>
          <p:nvPr/>
        </p:nvSpPr>
        <p:spPr>
          <a:xfrm>
            <a:off x="6035040" y="4133087"/>
            <a:ext cx="118872" cy="118872"/>
          </a:xfrm>
          <a:prstGeom prst="ellipse">
            <a:avLst/>
          </a:prstGeom>
          <a:solidFill>
            <a:srgbClr val="14B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7648" y="3995927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Firebase Hosting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7648" y="4343399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B0AE"/>
                </a:solidFill>
                <a:latin typeface="Calibri"/>
              </a:rPr>
              <a:t>Despliegue real en producción, hoy visitable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5303520"/>
            <a:ext cx="118872" cy="118872"/>
          </a:xfrm>
          <a:prstGeom prst="ellipse">
            <a:avLst/>
          </a:prstGeom>
          <a:solidFill>
            <a:srgbClr val="14B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166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Google Maps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5513832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B0AE"/>
                </a:solidFill>
                <a:latin typeface="Calibri"/>
              </a:rPr>
              <a:t>Mapa de casos con ajuste automático de vista</a:t>
            </a:r>
          </a:p>
        </p:txBody>
      </p:sp>
      <p:sp>
        <p:nvSpPr>
          <p:cNvPr id="26" name="Oval 25"/>
          <p:cNvSpPr/>
          <p:nvPr/>
        </p:nvSpPr>
        <p:spPr>
          <a:xfrm>
            <a:off x="6035040" y="5303520"/>
            <a:ext cx="118872" cy="118872"/>
          </a:xfrm>
          <a:prstGeom prst="ellipse">
            <a:avLst/>
          </a:prstGeom>
          <a:solidFill>
            <a:srgbClr val="14B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7648" y="5166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Gemini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7648" y="5513832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B0AE"/>
                </a:solidFill>
                <a:latin typeface="Calibri"/>
              </a:rPr>
              <a:t>Narración de este video generada con texto a voz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FB0AE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-2743200"/>
            <a:ext cx="8229600" cy="8229600"/>
          </a:xfrm>
          <a:prstGeom prst="ellipse">
            <a:avLst/>
          </a:prstGeom>
          <a:solidFill>
            <a:srgbClr val="142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5486400" cy="5486400"/>
          </a:xfrm>
          <a:prstGeom prst="ellipse">
            <a:avLst/>
          </a:prstGeom>
          <a:solidFill>
            <a:srgbClr val="142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36576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0624"/>
            <a:ext cx="383084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" y="384048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9FB0AE"/>
                </a:solidFill>
                <a:latin typeface="Calibri"/>
              </a:rPr>
              <a:t>REACTIVA TERRITORIO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143000"/>
            <a:ext cx="365760" cy="365760"/>
          </a:xfrm>
          <a:prstGeom prst="ellipse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1612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B8A8"/>
                </a:solidFill>
                <a:latin typeface="Calibri"/>
              </a:rPr>
              <a:t>DEMO EN VIVO · 1:30–2:00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No es una maqueta. Es un proyecto real, hoy.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060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FB0AE"/>
                </a:solidFill>
                <a:latin typeface="Calibri"/>
              </a:rPr>
              <a:t>19 casos reales, en 10 municipios distintos, corriendo en un proyecto Firebase real — no en una simulación local.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0440"/>
            <a:ext cx="6675120" cy="868680"/>
          </a:xfrm>
          <a:prstGeom prst="roundRect">
            <a:avLst>
              <a:gd name="adj" fmla="val 8000"/>
            </a:avLst>
          </a:prstGeom>
          <a:solidFill>
            <a:srgbClr val="162A47"/>
          </a:solidFill>
          <a:ln w="12700">
            <a:solidFill>
              <a:srgbClr val="273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4B8A8"/>
                </a:solidFill>
              </a:rPr>
              <a:t>●  </a:t>
            </a:r>
            <a:r>
              <a:rPr sz="2400" b="1">
                <a:solidFill>
                  <a:srgbClr val="FFFFFF"/>
                </a:solidFill>
                <a:latin typeface="Consolas"/>
              </a:rPr>
              <a:t>reactivaterritorio.web.app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634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9FB0AE"/>
                </a:solidFill>
                <a:latin typeface="Calibri"/>
              </a:rPr>
              <a:t>Cuentas demo: lider@demo.reactiva  ·  org@demo.reactiva  ·  admin@demo.reactiva   —   contraseña: demo1234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FB0AE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-2743200"/>
            <a:ext cx="8229600" cy="8229600"/>
          </a:xfrm>
          <a:prstGeom prst="ellipse">
            <a:avLst/>
          </a:prstGeom>
          <a:solidFill>
            <a:srgbClr val="142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5486400" cy="5486400"/>
          </a:xfrm>
          <a:prstGeom prst="ellipse">
            <a:avLst/>
          </a:prstGeom>
          <a:solidFill>
            <a:srgbClr val="142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36576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0624"/>
            <a:ext cx="383084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" y="384048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9FB0AE"/>
                </a:solidFill>
                <a:latin typeface="Calibri"/>
              </a:rPr>
              <a:t>REACTIVA TERRITORIO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143000"/>
            <a:ext cx="365760" cy="365760"/>
          </a:xfrm>
          <a:prstGeom prst="ellipse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1612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B8A8"/>
                </a:solidFill>
                <a:latin typeface="Calibri"/>
              </a:rPr>
              <a:t>GITHUB · 2:00–2:30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Código público, documentado de punta a punta.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43200"/>
            <a:ext cx="8778240" cy="868680"/>
          </a:xfrm>
          <a:prstGeom prst="roundRect">
            <a:avLst>
              <a:gd name="adj" fmla="val 8000"/>
            </a:avLst>
          </a:prstGeom>
          <a:solidFill>
            <a:srgbClr val="162A47"/>
          </a:solidFill>
          <a:ln w="12700">
            <a:solidFill>
              <a:srgbClr val="273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4B8A8"/>
                </a:solidFill>
              </a:rPr>
              <a:t>●  </a:t>
            </a:r>
            <a:r>
              <a:rPr sz="1900" b="1">
                <a:solidFill>
                  <a:srgbClr val="FFFFFF"/>
                </a:solidFill>
                <a:latin typeface="Consolas"/>
              </a:rPr>
              <a:t>github.com/lnieto044/ReActiva_Territorio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77639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React · 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177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FB0AE"/>
                </a:solidFill>
                <a:latin typeface="Calibri"/>
              </a:rPr>
              <a:t>Vite + Tailwind, TypeScript estricto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977639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46177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FB0AE"/>
                </a:solidFill>
                <a:latin typeface="Calibri"/>
              </a:rPr>
              <a:t>pruebas unitarias en lógica de dominio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977639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6177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FB0AE"/>
                </a:solidFill>
                <a:latin typeface="Calibri"/>
              </a:rPr>
              <a:t>reglas de seguridad reales en Firestore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FB0AE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-2743200"/>
            <a:ext cx="8229600" cy="8229600"/>
          </a:xfrm>
          <a:prstGeom prst="ellipse">
            <a:avLst/>
          </a:prstGeom>
          <a:solidFill>
            <a:srgbClr val="142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5486400" cy="5486400"/>
          </a:xfrm>
          <a:prstGeom prst="ellipse">
            <a:avLst/>
          </a:prstGeom>
          <a:solidFill>
            <a:srgbClr val="142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36576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0624"/>
            <a:ext cx="383084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" y="384048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9FB0AE"/>
                </a:solidFill>
                <a:latin typeface="Calibri"/>
              </a:rPr>
              <a:t>REACTIVA TERRITORIO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143000"/>
            <a:ext cx="365760" cy="365760"/>
          </a:xfrm>
          <a:prstGeom prst="ellipse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1612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B8A8"/>
                </a:solidFill>
                <a:latin typeface="Calibri"/>
              </a:rPr>
              <a:t>CIERRE · 2:30–3:00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Coordinar la recuperación, caso por caso.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060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FB0AE"/>
                </a:solidFill>
                <a:latin typeface="Calibri"/>
              </a:rPr>
              <a:t>Lista para un piloto real que puede verificar cientos de casos y reactivar decenas de negocios en semanas, no en meses.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61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605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FB0AE"/>
                </a:solidFill>
                <a:latin typeface="Calibri"/>
              </a:rPr>
              <a:t>Unidades productivas registradas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5661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1605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FB0AE"/>
                </a:solidFill>
                <a:latin typeface="Calibri"/>
              </a:rPr>
              <a:t>De los casos verificados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59" y="35661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59" y="41605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FB0AE"/>
                </a:solidFill>
                <a:latin typeface="Calibri"/>
              </a:rPr>
              <a:t>Negocios reactivados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35661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19" y="41605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FB0AE"/>
                </a:solidFill>
                <a:latin typeface="Calibri"/>
              </a:rPr>
              <a:t>Oportunidades laborales generadas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257800"/>
            <a:ext cx="9875520" cy="1051560"/>
          </a:xfrm>
          <a:prstGeom prst="roundRect">
            <a:avLst>
              <a:gd name="adj" fmla="val 8000"/>
            </a:avLst>
          </a:prstGeom>
          <a:solidFill>
            <a:srgbClr val="162A47"/>
          </a:solidFill>
          <a:ln w="12700">
            <a:solidFill>
              <a:srgbClr val="273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Luis Guillermo Nieto Patiño</a:t>
            </a:r>
          </a:p>
          <a:p>
            <a:pPr algn="ctr"/>
            <a:r>
              <a:rPr sz="1450">
                <a:solidFill>
                  <a:srgbClr val="9FB0AE"/>
                </a:solidFill>
                <a:latin typeface="Calibri"/>
              </a:rPr>
              <a:t>guillermonieto.2003@gmail.com   ·   WhatsApp +57 313 389 8628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FB0AE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